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TASK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Sales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Data Storytelling &amp; Statistical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APEXPLANET •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0AEC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20240"/>
            <a:ext cx="5120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6BED2"/>
                </a:solidFill>
                <a:latin typeface="Aptos"/>
              </a:rPr>
              <a:t>FROM DESCRIPTIVE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67712"/>
            <a:ext cx="71323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to statistically validated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5486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DCE4F0"/>
                </a:solidFill>
                <a:latin typeface="Aptos"/>
              </a:rPr>
              <a:t>ApexPlanet Data Analytics Internship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45920"/>
            <a:ext cx="3246120" cy="132588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810512"/>
            <a:ext cx="2880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₹139.4M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359152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TOTAL SALES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645920"/>
            <a:ext cx="50292" cy="1325880"/>
          </a:xfrm>
          <a:prstGeom prst="rect">
            <a:avLst/>
          </a:prstGeom>
          <a:solidFill>
            <a:srgbClr val="36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01000" y="3200400"/>
            <a:ext cx="3246120" cy="132588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3364992"/>
            <a:ext cx="2880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3913632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TRANSACTIONS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3200400"/>
            <a:ext cx="50292" cy="132588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1000" y="4754880"/>
            <a:ext cx="3246120" cy="132588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4919472"/>
            <a:ext cx="2880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947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468112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UNIQUE CUSTOMERS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1000" y="4754880"/>
            <a:ext cx="50292" cy="1325880"/>
          </a:xfrm>
          <a:prstGeom prst="rect">
            <a:avLst/>
          </a:prstGeom>
          <a:solidFill>
            <a:srgbClr val="28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EXECUTIVE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One business question drives 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Task 4 turns the descriptive gender comparison into a formal statistical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APEXPLANET •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0AEC0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2423160" cy="182880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240280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BED2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633472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DESCRIBE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82112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CE4F0"/>
                </a:solidFill>
                <a:latin typeface="Aptos"/>
              </a:rPr>
              <a:t>Gender sales totals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743200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0AEC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057400"/>
            <a:ext cx="2423160" cy="182880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240280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BED2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633472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82112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CE4F0"/>
                </a:solidFill>
                <a:latin typeface="Aptos"/>
              </a:rPr>
              <a:t>Do mean transaction values differ?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743200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0AEC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057400"/>
            <a:ext cx="2423160" cy="182880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240280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BED2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2633472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82112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CE4F0"/>
                </a:solidFill>
                <a:latin typeface="Aptos"/>
              </a:rPr>
              <a:t>Welch independent t-test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2743200"/>
            <a:ext cx="365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A0AEC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057400"/>
            <a:ext cx="2423160" cy="182880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0032" y="2240280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BED2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633472"/>
            <a:ext cx="20574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DECIDE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19" y="3182112"/>
            <a:ext cx="20116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CE4F0"/>
                </a:solidFill>
                <a:latin typeface="Aptos"/>
              </a:rPr>
              <a:t>Compare p-value with 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572000"/>
            <a:ext cx="10972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BED2"/>
                </a:solidFill>
                <a:latin typeface="Aptos"/>
              </a:rPr>
              <a:t>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1947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Assess whether the observed difference in mean transaction sales is statistically supported at α = 0.05.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The descriptive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Total sales differ by gender, but totals alone do not establish a statistically significant difference in average transaction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APEXPLANET •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0AEC0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246120" cy="150876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2880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₹72.46M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MALE TOTAL SALES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874519"/>
            <a:ext cx="50292" cy="1508760"/>
          </a:xfrm>
          <a:prstGeom prst="rect">
            <a:avLst/>
          </a:prstGeom>
          <a:solidFill>
            <a:srgbClr val="36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874519"/>
            <a:ext cx="3246120" cy="150876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39112"/>
            <a:ext cx="2880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₹66.94M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87752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FEMALE TOTAL SALES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874519"/>
            <a:ext cx="50292" cy="150876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1874519"/>
            <a:ext cx="3246120" cy="150876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039112"/>
            <a:ext cx="2880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>
                <a:solidFill>
                  <a:srgbClr val="F8FAFC"/>
                </a:solidFill>
                <a:latin typeface="Aptos"/>
              </a:rPr>
              <a:t>₹5.53M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87752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TOTAL SALES 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874519"/>
            <a:ext cx="50292" cy="1508760"/>
          </a:xfrm>
          <a:prstGeom prst="rect">
            <a:avLst/>
          </a:prstGeom>
          <a:solidFill>
            <a:srgbClr val="F5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DCE4F0"/>
                </a:solidFill>
                <a:latin typeface="Aptos"/>
              </a:rPr>
              <a:t>Male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4160520"/>
            <a:ext cx="8686800" cy="310896"/>
          </a:xfrm>
          <a:prstGeom prst="roundRect">
            <a:avLst/>
          </a:prstGeom>
          <a:solidFill>
            <a:srgbClr val="36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4105656"/>
            <a:ext cx="1188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₹72.46M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914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DCE4F0"/>
                </a:solidFill>
                <a:latin typeface="Aptos"/>
              </a:rPr>
              <a:t>Female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4892040"/>
            <a:ext cx="8024153" cy="310896"/>
          </a:xfrm>
          <a:prstGeom prst="round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61513" y="4837176"/>
            <a:ext cx="1188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"/>
              </a:rPr>
              <a:t>₹66.94M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23560"/>
            <a:ext cx="11887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26BED2"/>
                </a:solidFill>
                <a:latin typeface="Aptos"/>
              </a:rPr>
              <a:t>Key distinction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559552"/>
            <a:ext cx="923544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DCE4F0"/>
                </a:solidFill>
                <a:latin typeface="Aptos"/>
              </a:rPr>
              <a:t>A larger total does not automatically imply a statistically significant difference in means.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A testable business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The hypothesis is evaluated using transaction-level sales values.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APEXPLANET •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0AEC0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303520" cy="1874519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493775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H₀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4937759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FEMALE AND MALE MEAN TRANSACTION SALES ARE EQUAL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50292" cy="1874519"/>
          </a:xfrm>
          <a:prstGeom prst="rect">
            <a:avLst/>
          </a:prstGeom>
          <a:solidFill>
            <a:srgbClr val="36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03520" cy="1874519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93392"/>
            <a:ext cx="493775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H₁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42032"/>
            <a:ext cx="4937759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FEMALE AND MALE MEAN TRANSACTION SALES ARE DIFFERENT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28800"/>
            <a:ext cx="50292" cy="1874519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4160520"/>
            <a:ext cx="3383280" cy="123444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2511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0.05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73752"/>
            <a:ext cx="3017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SIGNIFICANCE LEVEL 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160520"/>
            <a:ext cx="50292" cy="1234440"/>
          </a:xfrm>
          <a:prstGeom prst="rect">
            <a:avLst/>
          </a:prstGeom>
          <a:solidFill>
            <a:srgbClr val="F5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7408" y="4160520"/>
            <a:ext cx="3383280" cy="123444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432511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TWO-SIDED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4873752"/>
            <a:ext cx="3017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TEST DIRECTION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8" y="4160520"/>
            <a:ext cx="50292" cy="1234440"/>
          </a:xfrm>
          <a:prstGeom prst="rect">
            <a:avLst/>
          </a:prstGeom>
          <a:solidFill>
            <a:srgbClr val="28B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38160" y="4160520"/>
            <a:ext cx="3383280" cy="123444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4325112"/>
            <a:ext cx="30175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WELCH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73752"/>
            <a:ext cx="3017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INDEPENDENT T-TEST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160520"/>
            <a:ext cx="50292" cy="1234440"/>
          </a:xfrm>
          <a:prstGeom prst="rect">
            <a:avLst/>
          </a:prstGeom>
          <a:solidFill>
            <a:srgbClr val="36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STATISTICAL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Why Welch's independent t-test?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A direct comparison of the means of two independent transaction groups.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APEXPLANET •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0AEC0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26BED2"/>
                </a:solidFill>
                <a:latin typeface="Aptos"/>
              </a:rPr>
              <a:t>FEMALE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2331720" cy="1097280"/>
          </a:xfrm>
          <a:prstGeom prst="roundRect">
            <a:avLst/>
          </a:prstGeom>
          <a:solidFill>
            <a:srgbClr val="18233A"/>
          </a:solidFill>
          <a:ln>
            <a:solidFill>
              <a:srgbClr val="2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16352"/>
            <a:ext cx="1965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Transaction-level
sales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057400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366EE6"/>
                </a:solidFill>
                <a:latin typeface="Aptos"/>
              </a:rPr>
              <a:t>MALE 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2606040"/>
            <a:ext cx="2331720" cy="1097280"/>
          </a:xfrm>
          <a:prstGeom prst="roundRect">
            <a:avLst/>
          </a:prstGeom>
          <a:solidFill>
            <a:srgbClr val="18233A"/>
          </a:solidFill>
          <a:ln>
            <a:solidFill>
              <a:srgbClr val="36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2816352"/>
            <a:ext cx="1965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Transaction-level
sales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88036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A0AEC0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468880"/>
            <a:ext cx="2971800" cy="1371600"/>
          </a:xfrm>
          <a:prstGeom prst="roundRect">
            <a:avLst/>
          </a:prstGeom>
          <a:solidFill>
            <a:srgbClr val="1E4096"/>
          </a:solidFill>
          <a:ln>
            <a:solidFill>
              <a:srgbClr val="2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724912"/>
            <a:ext cx="2651760" cy="7132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WELCH'S
TWO-SAMPLE T-TEST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88036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A0AEC0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743200"/>
            <a:ext cx="26517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C"/>
                </a:solidFill>
                <a:latin typeface="Aptos"/>
              </a:rPr>
              <a:t>p-value
+ 95%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572000"/>
            <a:ext cx="48646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Compares the means of two independent groups.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02352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1" y="5102352"/>
            <a:ext cx="486460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Welch's test does not assume equal variances.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57200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4572000"/>
            <a:ext cx="49560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Two-sided testing checks for a difference in either direction.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102352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5102352"/>
            <a:ext cx="495604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The decision threshold is α = 0.05.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The statistical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Exact values reported in the Task 4 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APEXPLANET •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0AEC0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246120" cy="155448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93392"/>
            <a:ext cx="2880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0.495011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P-VALUE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50292" cy="1554480"/>
          </a:xfrm>
          <a:prstGeom prst="rect">
            <a:avLst/>
          </a:prstGeom>
          <a:solidFill>
            <a:srgbClr val="36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0" y="1828800"/>
            <a:ext cx="3246120" cy="155448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93392"/>
            <a:ext cx="2880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42032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ALPHA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828800"/>
            <a:ext cx="50292" cy="1554480"/>
          </a:xfrm>
          <a:prstGeom prst="rect">
            <a:avLst/>
          </a:prstGeom>
          <a:solidFill>
            <a:srgbClr val="F5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1828800"/>
            <a:ext cx="3246120" cy="155448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993392"/>
            <a:ext cx="28803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F8FAFC"/>
                </a:solidFill>
                <a:latin typeface="Aptos"/>
              </a:rPr>
              <a:t>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42032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CONFIDENCE LEVEL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1828800"/>
            <a:ext cx="50292" cy="155448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77639"/>
            <a:ext cx="4754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DCE4F0"/>
                </a:solidFill>
                <a:latin typeface="Aptos"/>
              </a:rPr>
              <a:t>95% CI — Female − Male mean difference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800600"/>
            <a:ext cx="8686800" cy="36576"/>
          </a:xfrm>
          <a:prstGeom prst="rect">
            <a:avLst/>
          </a:prstGeom>
          <a:solidFill>
            <a:srgbClr val="A0AE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52700" y="4700016"/>
            <a:ext cx="5370756" cy="201168"/>
          </a:xfrm>
          <a:prstGeom prst="round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0" y="4645152"/>
            <a:ext cx="2286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645152"/>
            <a:ext cx="2286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515600" y="4645152"/>
            <a:ext cx="22860" cy="32918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5230368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DCE4F0"/>
                </a:solidFill>
                <a:latin typeface="Aptos"/>
              </a:rPr>
              <a:t>-19,079.85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230368"/>
            <a:ext cx="457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C"/>
                </a:solidFill>
                <a:latin typeface="Apto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230368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DCE4F0"/>
                </a:solidFill>
                <a:latin typeface="Aptos"/>
              </a:rPr>
              <a:t>9,231.58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5760720"/>
            <a:ext cx="8138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The confidence interval includes 0 — consistent with the p-value.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Fail to reject H₀ at α = 0.05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The available evidence is not sufficient to establish a statistically significant difference in mean transaction sales.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APEXPLANET •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0AEC0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Aptos"/>
              </a:rPr>
              <a:t>0.495011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057400"/>
            <a:ext cx="4572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A0AEC0"/>
                </a:solidFill>
                <a:latin typeface="Apto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057400"/>
            <a:ext cx="20116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8FAFC"/>
                </a:solidFill>
                <a:latin typeface="Aptos"/>
              </a:rPr>
              <a:t>0.05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828800"/>
            <a:ext cx="3840480" cy="1188720"/>
          </a:xfrm>
          <a:prstGeom prst="roundRect">
            <a:avLst/>
          </a:prstGeom>
          <a:solidFill>
            <a:srgbClr val="05503C"/>
          </a:solidFill>
          <a:ln>
            <a:solidFill>
              <a:srgbClr val="28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121408"/>
            <a:ext cx="34747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FAIL TO REJECT H₀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86200"/>
            <a:ext cx="100766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The test does not provide sufficient evidence to reject the equality of mean transaction sales.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0916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709160"/>
            <a:ext cx="100766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F8FAFC"/>
                </a:solidFill>
                <a:latin typeface="Aptos"/>
              </a:rPr>
              <a:t>This does not prove the two groups are identical; it describes what this sample supports at the selected threshold.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BUSINESS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Turn the statistic back into a business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Use descriptive dashboard findings and statistical validation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APEXPLANET •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0AEC0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3337560" cy="182880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2971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DESCRIPTIVE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87752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GENDER TOTALS DIFFER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874519"/>
            <a:ext cx="50292" cy="1828800"/>
          </a:xfrm>
          <a:prstGeom prst="rect">
            <a:avLst/>
          </a:prstGeom>
          <a:solidFill>
            <a:srgbClr val="366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4840" y="1874519"/>
            <a:ext cx="3337560" cy="182880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39112"/>
            <a:ext cx="2971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STATISTICAL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587752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MEAN DIFFERENCE NOT SIGNIFICANT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874519"/>
            <a:ext cx="50292" cy="1828800"/>
          </a:xfrm>
          <a:prstGeom prst="rect">
            <a:avLst/>
          </a:prstGeom>
          <a:solidFill>
            <a:srgbClr val="2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1874519"/>
            <a:ext cx="3337560" cy="1828800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2039112"/>
            <a:ext cx="29718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CAUTION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2587752"/>
            <a:ext cx="2971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DO NOT INFER CAUSATION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874519"/>
            <a:ext cx="50292" cy="1828800"/>
          </a:xfrm>
          <a:prstGeom prst="rect">
            <a:avLst/>
          </a:prstGeom>
          <a:solidFill>
            <a:srgbClr val="F5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15968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Business implications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09160"/>
            <a:ext cx="100766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Continue using category and product performance to prioritize commercial attention.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30368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230368"/>
            <a:ext cx="100766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Use dashboard filters to investigate city, category, product and customer segments.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51576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5751576"/>
            <a:ext cx="1007668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Treat gender differences as descriptive evidence rather than a causal explanation.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Responsible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Statistical validation adds rigor when the scope of the evidence is kept 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APEXPLANET •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0AEC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303520" cy="3977639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3977639"/>
          </a:xfrm>
          <a:prstGeom prst="roundRect">
            <a:avLst/>
          </a:prstGeom>
          <a:solidFill>
            <a:srgbClr val="18233A"/>
          </a:solidFill>
          <a:ln>
            <a:solidFill>
              <a:srgbClr val="3746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6BED2"/>
                </a:solidFill>
                <a:latin typeface="Aptos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651760"/>
            <a:ext cx="42245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Transaction-level analysis does not explain every driver of sales.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8328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383280"/>
            <a:ext cx="42245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Gender is one segmentation variable among many.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1480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6BED2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4114800"/>
            <a:ext cx="42245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A statistical difference would not by itself establish causation.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3291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28BE87"/>
                </a:solidFill>
                <a:latin typeface="Aptos"/>
              </a:rPr>
              <a:t>NEXT ANALYTICAL DIRECTIONS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5176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8BE87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651760"/>
            <a:ext cx="42245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Segment performance by category, product, city and age group.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8328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8BE87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2" y="3383280"/>
            <a:ext cx="42245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Monitor monthly sales movement and city-level concentration.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14800"/>
            <a:ext cx="182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28BE87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4114800"/>
            <a:ext cx="42245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Keep data-quality flags visible for stakeholder transparency.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PORTFOLIO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From raw data to validated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8016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A0AEC0"/>
                </a:solidFill>
                <a:latin typeface="Aptos"/>
              </a:rPr>
              <a:t>Task 4 completes the analytical workflow built across the internship.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5029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A0AEC0"/>
                </a:solidFill>
                <a:latin typeface="Aptos"/>
              </a:rPr>
              <a:t>APEXPLANET • DATA ANALYTICS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00" b="1">
                <a:solidFill>
                  <a:srgbClr val="A0AEC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2423160" cy="2148840"/>
          </a:xfrm>
          <a:prstGeom prst="roundRect">
            <a:avLst/>
          </a:prstGeom>
          <a:solidFill>
            <a:srgbClr val="18233A"/>
          </a:solidFill>
          <a:ln>
            <a:solidFill>
              <a:srgbClr val="366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2057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366EE6"/>
                </a:solidFill>
                <a:latin typeface="Aptos"/>
              </a:rPr>
              <a:t>TASK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1012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CE4F0"/>
                </a:solidFill>
                <a:latin typeface="Aptos"/>
              </a:rPr>
              <a:t>Quality + transformations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81635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A0AEC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011680"/>
            <a:ext cx="2423160" cy="2148840"/>
          </a:xfrm>
          <a:prstGeom prst="roundRect">
            <a:avLst/>
          </a:prstGeom>
          <a:solidFill>
            <a:srgbClr val="18233A"/>
          </a:solidFill>
          <a:ln>
            <a:solidFill>
              <a:srgbClr val="26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267712"/>
            <a:ext cx="2057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6BED2"/>
                </a:solidFill>
                <a:latin typeface="Aptos"/>
              </a:rPr>
              <a:t>TASK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70048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31012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CE4F0"/>
                </a:solidFill>
                <a:latin typeface="Aptos"/>
              </a:rPr>
              <a:t>EDA + SQL +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81635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A0AEC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011680"/>
            <a:ext cx="2423160" cy="2148840"/>
          </a:xfrm>
          <a:prstGeom prst="roundRect">
            <a:avLst/>
          </a:prstGeom>
          <a:solidFill>
            <a:srgbClr val="18233A"/>
          </a:solidFill>
          <a:ln>
            <a:solidFill>
              <a:srgbClr val="28B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267712"/>
            <a:ext cx="2057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28BE87"/>
                </a:solidFill>
                <a:latin typeface="Aptos"/>
              </a:rPr>
              <a:t>TASK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670048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DEEP DIVE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1012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CE4F0"/>
                </a:solidFill>
                <a:latin typeface="Aptos"/>
              </a:rPr>
              <a:t>KPIs +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816352"/>
            <a:ext cx="365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A0AEC0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011680"/>
            <a:ext cx="2423160" cy="2148840"/>
          </a:xfrm>
          <a:prstGeom prst="roundRect">
            <a:avLst/>
          </a:prstGeom>
          <a:solidFill>
            <a:srgbClr val="18233A"/>
          </a:solidFill>
          <a:ln>
            <a:solidFill>
              <a:srgbClr val="F5A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2267712"/>
            <a:ext cx="20574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5AA37"/>
                </a:solidFill>
                <a:latin typeface="Aptos"/>
              </a:rPr>
              <a:t>TASK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670048"/>
            <a:ext cx="2057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VALIDATE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310128"/>
            <a:ext cx="1965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CE4F0"/>
                </a:solidFill>
                <a:latin typeface="Aptos"/>
              </a:rPr>
              <a:t>Hypothesis + statistics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709160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26BED2"/>
                </a:solidFill>
                <a:latin typeface="Aptos"/>
              </a:rPr>
              <a:t>FINAL 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10607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The portfolio moves from data quality and descriptive analysis to dashboard-driven insight and statistical validation.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989320"/>
            <a:ext cx="7955279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A0AEC0"/>
                </a:solidFill>
                <a:latin typeface="Aptos"/>
              </a:rPr>
              <a:t>GitHub • ApexPlanet Data Analytics Internship Portfolio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